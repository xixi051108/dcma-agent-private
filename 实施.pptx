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3" r:id="rId6"/>
    <p:sldId id="267" r:id="rId7"/>
    <p:sldId id="259" r:id="rId8"/>
    <p:sldId id="262" r:id="rId9"/>
    <p:sldId id="266" r:id="rId10"/>
    <p:sldId id="261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12515-03C4-47B8-95EB-9E40E696C7FA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B565D-4BFE-4605-A77F-7056AD844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91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B565D-4BFE-4605-A77F-7056AD8445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4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5F4C5-E46A-FE39-615B-D654D084F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4221C3-A516-2EA3-833C-06631A7E5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BFBF7-B496-3803-3826-7293B06A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954665-5A7A-3C47-D287-5AB3BDF6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CAFED-7E9B-5FBF-F0C6-6A696585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52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56173-9A87-8E9B-2EB6-F1D823B0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73F43-B8A0-1900-908C-7BC608CD1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4F99F-491A-7C0D-8530-D9BCD523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DE1CB9-D560-FEE5-3117-B3BB38BD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774CC-66A6-D8CA-AC62-86E0C93A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9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C21D-3CE0-5913-0050-78971C76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CFC6E-D952-3E5A-28C0-E510865ED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2A4189-4B0D-BD7D-9DA4-8D6E1C26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B32238-9094-A7DE-FF7D-81D19526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4E647F-8C64-F1A9-CECA-4AB6CBE2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62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61101-F3CC-BD54-2629-B250F89B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6BC5E-E4BD-D00C-C89C-105FDBC0A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78337D-61C4-B6E6-A9CE-D4C61A421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CC92F8-E43D-CFC1-130F-849DADC9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72592-D70B-5BB8-C481-7C328059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91A77B-E280-36D2-9825-5517E464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80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A67B7-2DB0-A6B7-B6BF-CA15FC61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2271B0-50BE-567F-1B6C-5FAC46131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47922E-16F1-280F-E249-03D00A2B3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5E3AF9-617B-1661-D7B3-B80A84458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543E78-549C-8C0D-0A25-36A24C49A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1C63DC-5AB7-0DC8-D70A-16BA86CB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2C80AB-E31D-304B-6F89-DBAD401B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EF3A1D-4263-CBD1-7CD4-D848E2ED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8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93C88-2971-6C65-F032-D8E414AC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5F95BB-5C13-0AC1-FCDA-6D08DF80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75BBD1-C895-64FF-ACD0-683C66BB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403FB2-1E10-238D-EF0A-BB4F28B9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48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643B2F-29FB-39C7-D64B-D0655D7E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CD99F5-9A92-E93D-9C74-D81D54E1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8ACF0-8DB6-18C1-0CFA-0666C40C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69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4E6A6-48AE-2647-F792-38298497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99C78-1384-2648-8B53-CA6128A64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E08A94-42B2-AF10-75D1-6F11FEC84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EC20B-4248-73E0-32DD-73718A77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608553-376B-A27A-B85E-450805CD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ADDA7C-CAC4-7EA2-990D-1C486363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75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0DC45-F68A-48B8-4F9D-49136CF6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40AC90-4661-25CF-52FC-69839312A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ED34EC-A4FD-2C1E-8ED7-DB25C749F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21133A-8623-966D-1D7A-4EF1008E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55A3A-65B9-840D-A9B8-FD49773E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A5DB92-A484-5927-388F-FAD14C87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41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4B923-8249-6B18-30C6-A8A03214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6AF598-AF79-CB48-AC47-DCBA24DCC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5EEC8-3C7B-DE82-71FA-A54C1A41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B27988-1CBD-3F37-62DA-CB234D47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0DB5C-8473-5848-ADEF-76FD285C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86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A05BEB-7BFA-9E37-EC69-C8AAADD50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F0E13B-1AF7-5841-5014-D0D5C6392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46571-FD33-61BE-252D-3CB2300F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C21D-E341-FA85-8356-692DB0D8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9A506-47A0-5C46-444A-1B8CC13F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2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0CA46F-71FC-A4A5-D28F-F90006AF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9E64E6-7124-D99E-40A1-9C5614ED5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32630-73DB-45F9-47E5-1188F0FCA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CD5E2-CFC7-4358-9865-7293C09930B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AE440-915D-7646-A4C5-FB122AC6B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FDFD3E-9382-62D6-49A2-31D482294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451B7-A3C3-44E8-BEC1-E0FAB0C2C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2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earendil-works/pi/blob/main/packages/coding-agent/examples/sdk/README.md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941BB-ECB5-C67E-8AB7-9C0FCF4536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DCMA </a:t>
            </a:r>
            <a:r>
              <a:rPr lang="zh-CN" altLang="en-US" dirty="0"/>
              <a:t>工业 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A81C9D-3AA3-CF74-1379-753220101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基于 </a:t>
            </a:r>
            <a:r>
              <a:rPr lang="en-US" altLang="zh-CN" dirty="0"/>
              <a:t>Pi Agent Harness </a:t>
            </a:r>
            <a:r>
              <a:rPr lang="zh-CN" altLang="en-US" dirty="0"/>
              <a:t>的架构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2026-09-29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74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19BC-0263-D5B0-C926-E86F2236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5C99281-29FD-AABA-5035-C9E7EDD286F1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项目背景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2F2DAB-72C7-A333-FBA9-FF632A082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725" y="2747704"/>
            <a:ext cx="5480394" cy="41102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0C5DBB5-4780-2280-06D7-CAA29D653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8" y="2749312"/>
            <a:ext cx="5480394" cy="410868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3CD0B38-33C9-6927-9BCB-96F87C5338F5}"/>
              </a:ext>
            </a:extLst>
          </p:cNvPr>
          <p:cNvSpPr txBox="1"/>
          <p:nvPr/>
        </p:nvSpPr>
        <p:spPr>
          <a:xfrm>
            <a:off x="789776" y="887389"/>
            <a:ext cx="10822653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结合重大装备（比如大型发电机、卸船机等）的工作流程开展健康管理大模型部署和 </a:t>
            </a:r>
            <a:r>
              <a:rPr lang="en-US" altLang="zh-CN" dirty="0"/>
              <a:t>Agent </a:t>
            </a:r>
            <a:r>
              <a:rPr lang="zh-CN" altLang="en-US" dirty="0"/>
              <a:t>构建，当前基于</a:t>
            </a:r>
            <a:r>
              <a:rPr lang="en-US" altLang="zh-CN" dirty="0"/>
              <a:t>DCMA</a:t>
            </a:r>
            <a:r>
              <a:rPr lang="zh-CN" altLang="zh-CN" dirty="0"/>
              <a:t>（Drive-train Condition Monitoring &amp; Analysis Service，西门子驱动链健康管家）</a:t>
            </a:r>
            <a:r>
              <a:rPr lang="zh-CN" altLang="en-US" dirty="0"/>
              <a:t>系统进行开发。</a:t>
            </a:r>
          </a:p>
        </p:txBody>
      </p:sp>
    </p:spTree>
    <p:extLst>
      <p:ext uri="{BB962C8B-B14F-4D97-AF65-F5344CB8AC3E}">
        <p14:creationId xmlns:p14="http://schemas.microsoft.com/office/powerpoint/2010/main" val="341089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A0D1F-FFD6-634C-9487-BA8CFA4F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A4EDF0A-9F2F-14DF-FDF4-E0C30F83B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77" y="1539218"/>
            <a:ext cx="7094483" cy="531878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0A42A9-38E4-D920-5285-894D33C6BD2A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153595-A392-96DD-3331-0BEA9B96A77F}"/>
              </a:ext>
            </a:extLst>
          </p:cNvPr>
          <p:cNvSpPr txBox="1"/>
          <p:nvPr/>
        </p:nvSpPr>
        <p:spPr>
          <a:xfrm>
            <a:off x="789777" y="887389"/>
            <a:ext cx="10696528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DCMA </a:t>
            </a:r>
            <a:r>
              <a:rPr lang="zh-CN" altLang="en-US" dirty="0"/>
              <a:t>系统页面</a:t>
            </a:r>
          </a:p>
        </p:txBody>
      </p:sp>
    </p:spTree>
    <p:extLst>
      <p:ext uri="{BB962C8B-B14F-4D97-AF65-F5344CB8AC3E}">
        <p14:creationId xmlns:p14="http://schemas.microsoft.com/office/powerpoint/2010/main" val="24718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71D5D-3642-01AC-7534-B15FC319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DE42345-9668-C0C2-BF53-076782233B40}"/>
              </a:ext>
            </a:extLst>
          </p:cNvPr>
          <p:cNvSpPr txBox="1"/>
          <p:nvPr/>
        </p:nvSpPr>
        <p:spPr>
          <a:xfrm>
            <a:off x="477470" y="319050"/>
            <a:ext cx="454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项目进展（</a:t>
            </a:r>
            <a:r>
              <a:rPr lang="en-US" altLang="zh-CN" dirty="0"/>
              <a:t> https://10.108.13.250:25443/ 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5BE109-47A1-1D8B-8F4B-30B0CB8E0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1" y="959275"/>
            <a:ext cx="11508828" cy="589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9F01-72B3-5AD9-47E2-C16B11E8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A148DE8-E3E3-2253-8C07-B6911DC337C4}"/>
              </a:ext>
            </a:extLst>
          </p:cNvPr>
          <p:cNvSpPr txBox="1"/>
          <p:nvPr/>
        </p:nvSpPr>
        <p:spPr>
          <a:xfrm>
            <a:off x="477470" y="319050"/>
            <a:ext cx="454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项目进展（</a:t>
            </a:r>
            <a:r>
              <a:rPr lang="en-US" altLang="zh-CN" dirty="0"/>
              <a:t> https://10.108.13.250:25443/ 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11A8E5-1DCD-D130-896E-5CA13890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0" y="901556"/>
            <a:ext cx="11621438" cy="595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3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911D6-D44E-095D-890F-C4FEE580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D100126-1CCA-EEDA-6EF0-5C8911826C2B}"/>
              </a:ext>
            </a:extLst>
          </p:cNvPr>
          <p:cNvSpPr txBox="1"/>
          <p:nvPr/>
        </p:nvSpPr>
        <p:spPr>
          <a:xfrm>
            <a:off x="477470" y="319050"/>
            <a:ext cx="454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项目进展（</a:t>
            </a:r>
            <a:r>
              <a:rPr lang="en-US" altLang="zh-CN" dirty="0"/>
              <a:t> https://10.108.13.250:25443/ 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131C6-2DF9-B72C-0098-F34E3894CE75}"/>
              </a:ext>
            </a:extLst>
          </p:cNvPr>
          <p:cNvSpPr txBox="1"/>
          <p:nvPr/>
        </p:nvSpPr>
        <p:spPr>
          <a:xfrm>
            <a:off x="510681" y="1377458"/>
            <a:ext cx="5436072" cy="295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预期模拟故障如下：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1、有故障码：变频器过载、转矩超限故障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2、有故障码：变频器缺相、输入电源不平衡故障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3、有故障码：相序错误、反转故障模拟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4、有故障码：三相电压不平衡故障模拟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M2</a:t>
            </a:r>
            <a:r>
              <a:rPr lang="zh-CN" altLang="en-US" dirty="0"/>
              <a:t>带动</a:t>
            </a:r>
            <a:r>
              <a:rPr lang="en-US" altLang="zh-CN" dirty="0"/>
              <a:t>M1</a:t>
            </a:r>
            <a:r>
              <a:rPr lang="zh-CN" altLang="en-US" dirty="0"/>
              <a:t>反转使电流过大出现堵转故障。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86D3BC-DE3E-5579-6AA7-EC67E1D14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658" y="95834"/>
            <a:ext cx="5908166" cy="622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2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F194-D180-F77E-915C-C8A10230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9F85B34-13B9-3D26-A8F7-4DA49A2ADAE1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学习内容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99EA41-CB22-FB93-2270-88F51EEAE72E}"/>
              </a:ext>
            </a:extLst>
          </p:cNvPr>
          <p:cNvSpPr txBox="1"/>
          <p:nvPr/>
        </p:nvSpPr>
        <p:spPr>
          <a:xfrm>
            <a:off x="629493" y="1014737"/>
            <a:ext cx="10316279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Pi-Agent-Harness 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是什么</a:t>
            </a:r>
            <a:br>
              <a:rPr lang="en-US" altLang="zh-CN" b="1" kern="0" dirty="0">
                <a:ea typeface="等线" panose="02010600030101010101" pitchFamily="2" charset="-122"/>
                <a:cs typeface="宋体" panose="02010600030101010101" pitchFamily="2" charset="-122"/>
              </a:rPr>
            </a:br>
            <a:r>
              <a:rPr lang="en-US" altLang="zh-CN" kern="0" dirty="0">
                <a:cs typeface="宋体" panose="02010600030101010101" pitchFamily="2" charset="-122"/>
              </a:rPr>
              <a:t>Pi-Agent-Harness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是一个以极简内核为核心的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开发底座，其最大特点是 “核心最小化，扩展可编程化” 。它默认只给模型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read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write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edit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bash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四个基础工具，其余所有能力（如子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、计划模式、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MCP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）都通过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TypeScript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扩展按需加载，让开发者能够灵活构建和管控编码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B17F12-1E68-35AC-31D1-8AD4FFF32ACA}"/>
              </a:ext>
            </a:extLst>
          </p:cNvPr>
          <p:cNvSpPr txBox="1"/>
          <p:nvPr/>
        </p:nvSpPr>
        <p:spPr>
          <a:xfrm>
            <a:off x="629492" y="3612027"/>
            <a:ext cx="10316279" cy="212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 为什么 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适合学习 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的运行原理 </a:t>
            </a:r>
            <a:endParaRPr lang="en-US" altLang="zh-CN" sz="1800" b="1" kern="0" dirty="0">
              <a:effectLst/>
              <a:latin typeface="+mn-lt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的核心架构较为简洁，没有过度封装复杂的工作流、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Planner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或多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机制，因此能够较清晰地观察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的基本运行过程。开发者可以直接看到上下文、消息状态、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Tool Call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Tool Result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和多轮模型调用之间的关系，从而理解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Loop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、状态管理、工具执行和事件流等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Harness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的核心机制。相比功能更复杂的框架，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更适合作为理解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底层运行原理的入门样本。 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10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647E-CFDA-3F28-33FC-A5D27E27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DE98EC-E9E6-B071-4792-E43C1098CEDD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学习内容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46F89-012C-B26C-9DF0-E9E35CE2A629}"/>
              </a:ext>
            </a:extLst>
          </p:cNvPr>
          <p:cNvSpPr txBox="1"/>
          <p:nvPr/>
        </p:nvSpPr>
        <p:spPr>
          <a:xfrm>
            <a:off x="629493" y="1014737"/>
            <a:ext cx="10316279" cy="212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 用 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SDK 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二次开发的优势  </a:t>
            </a:r>
            <a:endParaRPr lang="en-US" altLang="zh-CN" sz="1800" b="1" kern="0" dirty="0">
              <a:effectLst/>
              <a:latin typeface="+mn-lt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SDK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将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的核心能力封装为可直接调用的程序接口，开发者无需自行实现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Loop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、状态管理和工具调用机制，即可快速构建自定义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应用。同时，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支持自定义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Tool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、模型接入、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Session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管理和事件监听，便于接入数据库、知识库、算法模型和业务系统，也适合进一步开发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Web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聊天界面和工业 </a:t>
            </a: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Agent </a:t>
            </a:r>
            <a:r>
              <a:rPr lang="zh-CN" altLang="en-US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系统。  </a:t>
            </a:r>
            <a:endParaRPr lang="en-US" altLang="zh-CN" sz="1800" kern="0" dirty="0">
              <a:effectLst/>
              <a:latin typeface="+mn-lt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524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0756-04A8-01BE-B398-A5F4B659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A4620C3-EBB8-E6B1-95AB-CCB6799EF0AE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学习内容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85BF10-6C41-7DFD-7468-98F4927D2174}"/>
              </a:ext>
            </a:extLst>
          </p:cNvPr>
          <p:cNvSpPr txBox="1"/>
          <p:nvPr/>
        </p:nvSpPr>
        <p:spPr>
          <a:xfrm>
            <a:off x="629493" y="1014737"/>
            <a:ext cx="10316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 跑通 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Pi SDK</a:t>
            </a:r>
            <a:r>
              <a:rPr lang="zh-CN" altLang="en-US" b="1" kern="0" dirty="0">
                <a:ea typeface="等线" panose="02010600030101010101" pitchFamily="2" charset="-122"/>
                <a:cs typeface="宋体" panose="02010600030101010101" pitchFamily="2" charset="-122"/>
              </a:rPr>
              <a:t> 官方 </a:t>
            </a:r>
            <a:r>
              <a:rPr lang="en-US" altLang="zh-CN" b="1" kern="0" dirty="0">
                <a:ea typeface="等线" panose="02010600030101010101" pitchFamily="2" charset="-122"/>
                <a:cs typeface="宋体" panose="02010600030101010101" pitchFamily="2" charset="-122"/>
              </a:rPr>
              <a:t>demo</a:t>
            </a: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hlinkClick r:id="rId2"/>
              </a:rPr>
              <a:t>https://github.com/earendil-works/pi/blob/main/packages/coding-agent/examples/sdk/README.md</a:t>
            </a:r>
            <a:endParaRPr lang="zh-CN" altLang="zh-CN" dirty="0"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02A5EE-D8EE-2BFB-BC53-46774DA52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4" y="1903967"/>
            <a:ext cx="2969911" cy="46700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FD020D-9BEF-D1E4-D859-F7DE0CCCD574}"/>
              </a:ext>
            </a:extLst>
          </p:cNvPr>
          <p:cNvSpPr txBox="1"/>
          <p:nvPr/>
        </p:nvSpPr>
        <p:spPr>
          <a:xfrm>
            <a:off x="4712391" y="1826058"/>
            <a:ext cx="7184571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跑通 Pi SDK 示例，观察一次请求中的模型回复、工具调用、工具结果和下一轮回复</a:t>
            </a:r>
            <a:endParaRPr lang="en-US" altLang="zh-CN" b="1" kern="0" dirty="0">
              <a:cs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694484-B5CB-2037-BB56-337442FC5715}"/>
              </a:ext>
            </a:extLst>
          </p:cNvPr>
          <p:cNvSpPr txBox="1"/>
          <p:nvPr/>
        </p:nvSpPr>
        <p:spPr>
          <a:xfrm>
            <a:off x="4712392" y="3541725"/>
            <a:ext cx="6131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b="1" dirty="0"/>
              <a:t>尝试编写 简单</a:t>
            </a:r>
            <a:r>
              <a:rPr lang="zh-CN" altLang="zh-CN" b="1" dirty="0"/>
              <a:t>Tool</a:t>
            </a:r>
            <a:r>
              <a:rPr lang="zh-CN" altLang="en-US" b="1" dirty="0"/>
              <a:t>，</a:t>
            </a:r>
            <a:r>
              <a:rPr lang="en-US" altLang="zh-CN" b="1" dirty="0"/>
              <a:t>skills</a:t>
            </a:r>
            <a:r>
              <a:rPr lang="zh-CN" altLang="en-US" b="1" dirty="0"/>
              <a:t>，</a:t>
            </a:r>
            <a:r>
              <a:rPr lang="en-US" altLang="zh-CN" b="1" dirty="0"/>
              <a:t>prompt</a:t>
            </a:r>
            <a:r>
              <a:rPr lang="zh-CN" altLang="zh-CN" b="1" dirty="0"/>
              <a:t>，接入 Pi</a:t>
            </a:r>
            <a:endParaRPr lang="zh-CN" altLang="zh-CN" dirty="0">
              <a:effectLst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187594-1A8F-AB29-79A4-2A31B60F253A}"/>
              </a:ext>
            </a:extLst>
          </p:cNvPr>
          <p:cNvSpPr txBox="1"/>
          <p:nvPr/>
        </p:nvSpPr>
        <p:spPr>
          <a:xfrm>
            <a:off x="4712391" y="4387808"/>
            <a:ext cx="6131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b="1" dirty="0"/>
              <a:t>尝试利用 </a:t>
            </a:r>
            <a:r>
              <a:rPr lang="en-US" altLang="zh-CN" b="1" dirty="0"/>
              <a:t>pi </a:t>
            </a:r>
            <a:r>
              <a:rPr lang="zh-CN" altLang="en-US" b="1" dirty="0"/>
              <a:t>接入 </a:t>
            </a:r>
            <a:r>
              <a:rPr lang="en-US" altLang="zh-CN" b="1" dirty="0" err="1"/>
              <a:t>dcma</a:t>
            </a:r>
            <a:r>
              <a:rPr lang="en-US" altLang="zh-CN" b="1" dirty="0"/>
              <a:t> </a:t>
            </a:r>
            <a:r>
              <a:rPr lang="zh-CN" altLang="en-US" b="1" dirty="0"/>
              <a:t>数据库</a:t>
            </a:r>
            <a:endParaRPr lang="zh-CN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5253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84CD-F170-200F-6E6C-B0943B07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BED204-AA60-64A2-5529-58DE9EE28F11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AE3B01-B1E2-C7A9-A960-E863FEC61215}"/>
              </a:ext>
            </a:extLst>
          </p:cNvPr>
          <p:cNvSpPr txBox="1"/>
          <p:nvPr/>
        </p:nvSpPr>
        <p:spPr>
          <a:xfrm>
            <a:off x="629493" y="1014737"/>
            <a:ext cx="10316279" cy="5031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、人机协同交互、智能问答、语音交互 不同工作人员可以通过语音、文字与系统进行交互，快速查询设备信息、设备状态、故障诊断结果和维修建议等。</a:t>
            </a:r>
            <a:endParaRPr lang="zh-CN" altLang="zh-CN" sz="1800" kern="100" dirty="0">
              <a:effectLst/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、设备实时监测与数据融合 结合设备实时监测数据，组合生成图表、报表，比如：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请给出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2025-01-01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至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2025-05-03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之间，五号发电机每天温度超过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50°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的次数，并制作折线图。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” </a:t>
            </a:r>
            <a:b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【创新技术点一】</a:t>
            </a:r>
            <a:r>
              <a:rPr lang="zh-CN" altLang="zh-CN" sz="1800" b="1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多源数据整合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通过时序对齐算法整合振动、温度、电流等多维度传感器数据，结合领域知识图谱或大模型调优，实现对重大装备运行状态的全面实时监测。</a:t>
            </a:r>
            <a:endParaRPr lang="zh-CN" altLang="zh-CN" sz="1800" kern="100" dirty="0">
              <a:effectLst/>
              <a:latin typeface="+mn-lt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800" kern="0" dirty="0">
                <a:effectLst/>
                <a:latin typeface="+mn-lt"/>
                <a:ea typeface="等线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、故障诊断与预测性维护 </a:t>
            </a:r>
            <a:b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【创新技术点二】</a:t>
            </a:r>
            <a:r>
              <a:rPr lang="zh-CN" altLang="zh-CN" sz="1800" b="1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故障诊断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利用垂直大模型的分析能力，结合多源数据和领域知识图谱，进行故障根因分析，提高故障诊断的准确性和效率。</a:t>
            </a:r>
            <a:b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【创新技术点三】</a:t>
            </a:r>
            <a:r>
              <a:rPr lang="zh-CN" altLang="zh-CN" sz="1800" b="1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预测性维护</a:t>
            </a:r>
            <a:r>
              <a:rPr lang="en-US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zh-CN" sz="1800" kern="0" dirty="0">
                <a:effectLst/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借助深度学习与强化学习能力，实时监测设备运行状态并进行智能分析，自主识别潜在的故障风险，及时发送预警信息，并定制个性化的维护方案，减少非计划停机时间。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741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628D-1A99-EAD6-8998-5A0791F6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46A573-0D4D-128C-C725-2C9D2D313CBA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项目内容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963638-E3A3-8528-AA97-89EDE5A3C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458" y="1018002"/>
            <a:ext cx="8759998" cy="583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6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9C62-7EBE-64FB-B4AE-4E215FF0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1F2C0C-91D3-AA05-DE18-35D08F1F5407}"/>
              </a:ext>
            </a:extLst>
          </p:cNvPr>
          <p:cNvSpPr txBox="1"/>
          <p:nvPr/>
        </p:nvSpPr>
        <p:spPr>
          <a:xfrm>
            <a:off x="477470" y="3190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项目分工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E59B82-5D19-8F26-149C-BB451EDBA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819002"/>
              </p:ext>
            </p:extLst>
          </p:nvPr>
        </p:nvGraphicFramePr>
        <p:xfrm>
          <a:off x="603308" y="1346178"/>
          <a:ext cx="1138455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6090">
                  <a:extLst>
                    <a:ext uri="{9D8B030D-6E8A-4147-A177-3AD203B41FA5}">
                      <a16:colId xmlns:a16="http://schemas.microsoft.com/office/drawing/2014/main" val="2943413266"/>
                    </a:ext>
                  </a:extLst>
                </a:gridCol>
                <a:gridCol w="2256932">
                  <a:extLst>
                    <a:ext uri="{9D8B030D-6E8A-4147-A177-3AD203B41FA5}">
                      <a16:colId xmlns:a16="http://schemas.microsoft.com/office/drawing/2014/main" val="1712740262"/>
                    </a:ext>
                  </a:extLst>
                </a:gridCol>
                <a:gridCol w="7101537">
                  <a:extLst>
                    <a:ext uri="{9D8B030D-6E8A-4147-A177-3AD203B41FA5}">
                      <a16:colId xmlns:a16="http://schemas.microsoft.com/office/drawing/2014/main" val="835308150"/>
                    </a:ext>
                  </a:extLst>
                </a:gridCol>
              </a:tblGrid>
              <a:tr h="31400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殷天宇、庄锐敏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highlight>
                            <a:srgbClr val="FFFF00"/>
                          </a:highlight>
                        </a:rPr>
                        <a:t>工业数据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highlight>
                            <a:srgbClr val="FFFF00"/>
                          </a:highlight>
                        </a:rPr>
                        <a:t>学</a:t>
                      </a:r>
                      <a:r>
                        <a:rPr lang="zh-CN">
                          <a:highlight>
                            <a:srgbClr val="FFFF00"/>
                          </a:highlight>
                        </a:rPr>
                        <a:t>习 Agent </a:t>
                      </a:r>
                      <a:r>
                        <a:rPr lang="zh-CN" dirty="0">
                          <a:highlight>
                            <a:srgbClr val="FFFF00"/>
                          </a:highlight>
                        </a:rPr>
                        <a:t>如何获取和理解电机运行数据，探索状态分析与图表生成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627593"/>
                  </a:ext>
                </a:extLst>
              </a:tr>
              <a:tr h="2779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highlight>
                            <a:srgbClr val="FFFF00"/>
                          </a:highlight>
                        </a:rPr>
                        <a:t>工业知识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highlight>
                            <a:srgbClr val="FFFF00"/>
                          </a:highlight>
                        </a:rPr>
                        <a:t>学习 Agent 如何使用故障手册和电机知识，探索故障码解释与有依据的回答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23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陈嘉宏</a:t>
                      </a:r>
                      <a:endParaRPr 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故障诊断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学习 Agent 如何组合数据、知识和诊断方法，形成有依据的辅助判断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41778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15E85DE-473D-351F-481E-FCEB1E4669C1}"/>
              </a:ext>
            </a:extLst>
          </p:cNvPr>
          <p:cNvSpPr txBox="1"/>
          <p:nvPr/>
        </p:nvSpPr>
        <p:spPr>
          <a:xfrm>
            <a:off x="603308" y="3640822"/>
            <a:ext cx="10641487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目的：</a:t>
            </a:r>
            <a:r>
              <a:rPr lang="zh-CN" altLang="zh-CN" b="1" dirty="0"/>
              <a:t>共同学习 Pi 的 Agent Loop、Tool Calling 和上下文机制</a:t>
            </a:r>
            <a:r>
              <a:rPr lang="zh-CN" altLang="zh-CN" dirty="0"/>
              <a:t>，再从各自方向做实践。最终把三个方向整合为一个面向 DCMA 的工业 Agent</a:t>
            </a:r>
            <a:r>
              <a:rPr lang="zh-CN" altLang="en-US" dirty="0"/>
              <a:t>。</a:t>
            </a:r>
            <a:r>
              <a:rPr lang="zh-CN" altLang="zh-CN" dirty="0"/>
              <a:t>不把任何一名</a:t>
            </a:r>
            <a:r>
              <a:rPr lang="zh-CN" altLang="en-US" dirty="0"/>
              <a:t>同学</a:t>
            </a:r>
            <a:r>
              <a:rPr lang="zh-CN" altLang="zh-CN" dirty="0"/>
              <a:t>固定为纯前端或纯 API 开发。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56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1495</Words>
  <Application>Microsoft Office PowerPoint</Application>
  <PresentationFormat>宽屏</PresentationFormat>
  <Paragraphs>48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宋体</vt:lpstr>
      <vt:lpstr>Arial</vt:lpstr>
      <vt:lpstr>Office 主题​​</vt:lpstr>
      <vt:lpstr>DCMA 工业 Agent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HongYu Li</dc:creator>
  <cp:lastModifiedBy>HongYu Li</cp:lastModifiedBy>
  <cp:revision>5</cp:revision>
  <dcterms:created xsi:type="dcterms:W3CDTF">2026-09-29T02:36:59Z</dcterms:created>
  <dcterms:modified xsi:type="dcterms:W3CDTF">2026-09-29T08:43:08Z</dcterms:modified>
</cp:coreProperties>
</file>